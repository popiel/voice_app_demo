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34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1.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4011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</a:rPr>
              <a:t>•  </a:t>
            </a:r>
            <a:r>
              <a:rPr sz="2400" b="1" dirty="0">
                <a:solidFill>
                  <a:srgbClr val="000000"/>
                </a:solidFill>
              </a:rPr>
              <a:t>As a person with hearing </a:t>
            </a:r>
            <a:r>
              <a:rPr lang="en-US" sz="2400" b="1" dirty="0">
                <a:solidFill>
                  <a:srgbClr val="000000"/>
                </a:solidFill>
              </a:rPr>
              <a:t>deficits</a:t>
            </a:r>
            <a:r>
              <a:rPr sz="2400" b="1" dirty="0">
                <a:solidFill>
                  <a:srgbClr val="000000"/>
                </a:solidFill>
              </a:rPr>
              <a:t>, I want podcasts rebalanced so voices are intelligible over music and noise.</a:t>
            </a:r>
            <a:endParaRPr sz="2000" b="1" dirty="0">
              <a:solidFill>
                <a:srgbClr val="000000"/>
              </a:solidFill>
            </a:endParaRPr>
          </a:p>
          <a:p>
            <a:pPr lvl="1">
              <a:spcBef>
                <a:spcPts val="40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</a:rPr>
              <a:t>•  Triggered by user submission of an audio stream, or discovery of a new episode from favorite podcast sources.</a:t>
            </a:r>
          </a:p>
          <a:p>
            <a:pPr lvl="1">
              <a:spcBef>
                <a:spcPts val="40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</a:rPr>
              <a:t>•  Deliverable 1: voices at least 2 dB above background in their highest-energy frequencies, by attenuating non-voice only</a:t>
            </a:r>
            <a:r>
              <a:rPr lang="en-US" sz="2000" dirty="0">
                <a:solidFill>
                  <a:srgbClr val="000000"/>
                </a:solidFill>
              </a:rPr>
              <a:t> with no jarring volume shifts</a:t>
            </a:r>
            <a:r>
              <a:rPr sz="2000" dirty="0">
                <a:solidFill>
                  <a:srgbClr val="000000"/>
                </a:solidFill>
              </a:rPr>
              <a:t>.</a:t>
            </a:r>
          </a:p>
          <a:p>
            <a:pPr lvl="1">
              <a:spcBef>
                <a:spcPts val="40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</a:rPr>
              <a:t>•  Deliverable </a:t>
            </a:r>
            <a:r>
              <a:rPr lang="en-US" sz="2000" dirty="0">
                <a:solidFill>
                  <a:srgbClr val="000000"/>
                </a:solidFill>
              </a:rPr>
              <a:t>2</a:t>
            </a:r>
            <a:r>
              <a:rPr sz="2000" dirty="0">
                <a:solidFill>
                  <a:srgbClr val="000000"/>
                </a:solidFill>
              </a:rPr>
              <a:t>: voices dominant in 220-440 Hz get an octave-down harmonic at half energy, with total voice energy preserved.</a:t>
            </a:r>
          </a:p>
          <a:p>
            <a:pPr lvl="1">
              <a:spcBef>
                <a:spcPts val="400"/>
              </a:spcBef>
              <a:spcAft>
                <a:spcPts val="1000"/>
              </a:spcAft>
            </a:pPr>
            <a:r>
              <a:rPr sz="2000" dirty="0">
                <a:solidFill>
                  <a:srgbClr val="000000"/>
                </a:solidFill>
              </a:rPr>
              <a:t>•  Deliverable </a:t>
            </a:r>
            <a:r>
              <a:rPr lang="en-US" sz="2000" dirty="0">
                <a:solidFill>
                  <a:srgbClr val="000000"/>
                </a:solidFill>
              </a:rPr>
              <a:t>3</a:t>
            </a:r>
            <a:r>
              <a:rPr sz="2000" dirty="0">
                <a:solidFill>
                  <a:srgbClr val="000000"/>
                </a:solidFill>
              </a:rPr>
              <a:t>: private website with remixed audio, original link, full-stream summary, and all modifications with start/end times.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47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</a:defRPr>
            </a:pPr>
            <a:r>
              <a:rPr dirty="0"/>
              <a:t>2. </a:t>
            </a:r>
            <a:r>
              <a:rPr lang="en-US" dirty="0"/>
              <a:t>Overall </a:t>
            </a:r>
            <a:r>
              <a:rPr dirty="0"/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</a:defRPr>
            </a:pPr>
            <a:r>
              <a:rPr dirty="0"/>
              <a:t>•  Ingestion: submit (file/URL) + RSS </a:t>
            </a:r>
            <a:r>
              <a:rPr dirty="0" err="1"/>
              <a:t>poller</a:t>
            </a:r>
            <a:r>
              <a:rPr dirty="0"/>
              <a:t> → validate, </a:t>
            </a:r>
            <a:r>
              <a:rPr dirty="0" err="1"/>
              <a:t>dedup</a:t>
            </a:r>
            <a:r>
              <a:rPr dirty="0"/>
              <a:t>, queue as pending</a:t>
            </a:r>
            <a:br>
              <a:rPr dirty="0"/>
            </a:br>
            <a:r>
              <a:rPr dirty="0"/>
              <a:t>•  Storage: files in storage/staging + storage/processed; state in SQLite (jobs, episodes)</a:t>
            </a:r>
            <a:br>
              <a:rPr dirty="0"/>
            </a:br>
            <a:r>
              <a:rPr dirty="0"/>
              <a:t>•  Processing: decode, VAD, separate, rebalance, harmonic, transcribe, summarize</a:t>
            </a:r>
            <a:br>
              <a:rPr dirty="0"/>
            </a:br>
            <a:r>
              <a:rPr dirty="0"/>
              <a:t>•  Presentation: private </a:t>
            </a:r>
            <a:r>
              <a:rPr dirty="0" err="1"/>
              <a:t>FastAPI</a:t>
            </a:r>
            <a:r>
              <a:rPr dirty="0"/>
              <a:t> site serves remix, original, summary, modification log</a:t>
            </a:r>
          </a:p>
        </p:txBody>
      </p:sp>
      <p:sp>
        <p:nvSpPr>
          <p:cNvPr id="4" name="Parallelogram 3"/>
          <p:cNvSpPr/>
          <p:nvPr/>
        </p:nvSpPr>
        <p:spPr>
          <a:xfrm>
            <a:off x="360045" y="2836506"/>
            <a:ext cx="1371600" cy="1005840"/>
          </a:xfrm>
          <a:prstGeom prst="parallelogram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dirty="0">
                <a:solidFill>
                  <a:srgbClr val="000000"/>
                </a:solidFill>
              </a:rPr>
              <a:t>I/O
upload / URL
RSS feed</a:t>
            </a:r>
          </a:p>
        </p:txBody>
      </p:sp>
      <p:sp>
        <p:nvSpPr>
          <p:cNvPr id="5" name="Process 4"/>
          <p:cNvSpPr/>
          <p:nvPr/>
        </p:nvSpPr>
        <p:spPr>
          <a:xfrm>
            <a:off x="2000250" y="2836506"/>
            <a:ext cx="1371600" cy="1005840"/>
          </a:xfrm>
          <a:prstGeom prst="flowChartProcess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000000"/>
                </a:solidFill>
              </a:rPr>
              <a:t>Ingest
validate
enqueue</a:t>
            </a:r>
          </a:p>
        </p:txBody>
      </p:sp>
      <p:sp>
        <p:nvSpPr>
          <p:cNvPr id="6" name="Document 5"/>
          <p:cNvSpPr/>
          <p:nvPr/>
        </p:nvSpPr>
        <p:spPr>
          <a:xfrm>
            <a:off x="3733801" y="2841824"/>
            <a:ext cx="1280160" cy="1000522"/>
          </a:xfrm>
          <a:prstGeom prst="flowChartDocumen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dirty="0">
                <a:solidFill>
                  <a:srgbClr val="000000"/>
                </a:solidFill>
              </a:rPr>
              <a:t>Files</a:t>
            </a:r>
            <a:r>
              <a:rPr lang="en-US" sz="1100" dirty="0">
                <a:solidFill>
                  <a:srgbClr val="000000"/>
                </a:solidFill>
              </a:rPr>
              <a:t>:</a:t>
            </a:r>
            <a:r>
              <a:rPr sz="1100" dirty="0">
                <a:solidFill>
                  <a:srgbClr val="000000"/>
                </a:solidFill>
              </a:rPr>
              <a:t>
staging</a:t>
            </a:r>
            <a:endParaRPr lang="en-US" sz="1100" dirty="0">
              <a:solidFill>
                <a:srgbClr val="000000"/>
              </a:solidFill>
            </a:endParaRPr>
          </a:p>
          <a:p>
            <a:pPr algn="ctr"/>
            <a:r>
              <a:rPr lang="en-US" sz="1100" dirty="0">
                <a:solidFill>
                  <a:srgbClr val="000000"/>
                </a:solidFill>
              </a:rPr>
              <a:t>processed</a:t>
            </a:r>
            <a:endParaRPr sz="1100" dirty="0">
              <a:solidFill>
                <a:srgbClr val="000000"/>
              </a:solidFill>
            </a:endParaRPr>
          </a:p>
        </p:txBody>
      </p:sp>
      <p:sp>
        <p:nvSpPr>
          <p:cNvPr id="7" name="Can 6"/>
          <p:cNvSpPr/>
          <p:nvPr/>
        </p:nvSpPr>
        <p:spPr>
          <a:xfrm>
            <a:off x="2091690" y="4298613"/>
            <a:ext cx="1188720" cy="1005840"/>
          </a:xfrm>
          <a:prstGeom prst="can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dirty="0">
                <a:solidFill>
                  <a:srgbClr val="000000"/>
                </a:solidFill>
              </a:rPr>
              <a:t>DB
jobs</a:t>
            </a:r>
          </a:p>
        </p:txBody>
      </p:sp>
      <p:sp>
        <p:nvSpPr>
          <p:cNvPr id="8" name="Process 7"/>
          <p:cNvSpPr/>
          <p:nvPr/>
        </p:nvSpPr>
        <p:spPr>
          <a:xfrm>
            <a:off x="3642361" y="4298613"/>
            <a:ext cx="1463039" cy="1005840"/>
          </a:xfrm>
          <a:prstGeom prst="flowChartProcess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000000"/>
                </a:solidFill>
              </a:rPr>
              <a:t>DSP + AI
separate, +2dB
transcribe</a:t>
            </a:r>
          </a:p>
        </p:txBody>
      </p:sp>
      <p:sp>
        <p:nvSpPr>
          <p:cNvPr id="10" name="Can 9"/>
          <p:cNvSpPr/>
          <p:nvPr/>
        </p:nvSpPr>
        <p:spPr>
          <a:xfrm>
            <a:off x="5558792" y="4298613"/>
            <a:ext cx="1188720" cy="1005840"/>
          </a:xfrm>
          <a:prstGeom prst="can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000000"/>
                </a:solidFill>
              </a:rPr>
              <a:t>DB
episodes</a:t>
            </a:r>
          </a:p>
        </p:txBody>
      </p:sp>
      <p:sp>
        <p:nvSpPr>
          <p:cNvPr id="11" name="Process 10"/>
          <p:cNvSpPr/>
          <p:nvPr/>
        </p:nvSpPr>
        <p:spPr>
          <a:xfrm>
            <a:off x="5375912" y="2841824"/>
            <a:ext cx="1554480" cy="1005840"/>
          </a:xfrm>
          <a:prstGeom prst="flowChartProcess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000000"/>
                </a:solidFill>
              </a:rPr>
              <a:t>Web server
FastAPI (private)</a:t>
            </a:r>
          </a:p>
        </p:txBody>
      </p:sp>
      <p:sp>
        <p:nvSpPr>
          <p:cNvPr id="12" name="Parallelogram 11"/>
          <p:cNvSpPr/>
          <p:nvPr/>
        </p:nvSpPr>
        <p:spPr>
          <a:xfrm>
            <a:off x="7292342" y="2841824"/>
            <a:ext cx="1280160" cy="1005840"/>
          </a:xfrm>
          <a:prstGeom prst="parallelogram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000000"/>
                </a:solidFill>
              </a:rPr>
              <a:t>I/O
browser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83BC7DC-BED0-4D51-65BB-8A8FD38A12C9}"/>
              </a:ext>
            </a:extLst>
          </p:cNvPr>
          <p:cNvCxnSpPr>
            <a:stCxn id="4" idx="2"/>
            <a:endCxn id="5" idx="1"/>
          </p:cNvCxnSpPr>
          <p:nvPr/>
        </p:nvCxnSpPr>
        <p:spPr>
          <a:xfrm>
            <a:off x="1605915" y="3339426"/>
            <a:ext cx="3943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B789A5E-0A10-C6E0-18C5-CB98B41458B9}"/>
              </a:ext>
            </a:extLst>
          </p:cNvPr>
          <p:cNvCxnSpPr>
            <a:stCxn id="5" idx="2"/>
            <a:endCxn id="7" idx="1"/>
          </p:cNvCxnSpPr>
          <p:nvPr/>
        </p:nvCxnSpPr>
        <p:spPr>
          <a:xfrm>
            <a:off x="2686050" y="3842346"/>
            <a:ext cx="0" cy="4562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C1C333C-C7DE-A970-9CE3-2DA77D4E0868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3371850" y="3339426"/>
            <a:ext cx="361951" cy="26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A080EF6-EB45-087A-AD18-A3E9E8AADCD1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>
            <a:off x="5013961" y="3342085"/>
            <a:ext cx="361951" cy="26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6798D72-75EE-076C-A30C-E79E10A10E61}"/>
              </a:ext>
            </a:extLst>
          </p:cNvPr>
          <p:cNvCxnSpPr>
            <a:stCxn id="8" idx="0"/>
            <a:endCxn id="6" idx="2"/>
          </p:cNvCxnSpPr>
          <p:nvPr/>
        </p:nvCxnSpPr>
        <p:spPr>
          <a:xfrm flipV="1">
            <a:off x="4373881" y="3776200"/>
            <a:ext cx="0" cy="5224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F790D9F-29D6-8DB0-9F2A-E4DD1AF4DFA0}"/>
              </a:ext>
            </a:extLst>
          </p:cNvPr>
          <p:cNvCxnSpPr>
            <a:cxnSpLocks/>
            <a:stCxn id="7" idx="4"/>
            <a:endCxn id="8" idx="1"/>
          </p:cNvCxnSpPr>
          <p:nvPr/>
        </p:nvCxnSpPr>
        <p:spPr>
          <a:xfrm>
            <a:off x="3280410" y="4801533"/>
            <a:ext cx="3619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D5BE5CA-FC91-B869-F023-A3B034D0A0FF}"/>
              </a:ext>
            </a:extLst>
          </p:cNvPr>
          <p:cNvCxnSpPr>
            <a:stCxn id="8" idx="3"/>
            <a:endCxn id="10" idx="2"/>
          </p:cNvCxnSpPr>
          <p:nvPr/>
        </p:nvCxnSpPr>
        <p:spPr>
          <a:xfrm>
            <a:off x="5105400" y="4801533"/>
            <a:ext cx="4533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FD8CCC1-D93F-378B-5057-FB2B22153AD0}"/>
              </a:ext>
            </a:extLst>
          </p:cNvPr>
          <p:cNvCxnSpPr>
            <a:stCxn id="10" idx="1"/>
            <a:endCxn id="11" idx="2"/>
          </p:cNvCxnSpPr>
          <p:nvPr/>
        </p:nvCxnSpPr>
        <p:spPr>
          <a:xfrm flipV="1">
            <a:off x="6153152" y="3847664"/>
            <a:ext cx="0" cy="4509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2AA9389-8023-3F0A-B9BB-6CA0980D5E2C}"/>
              </a:ext>
            </a:extLst>
          </p:cNvPr>
          <p:cNvCxnSpPr>
            <a:stCxn id="11" idx="3"/>
            <a:endCxn id="12" idx="5"/>
          </p:cNvCxnSpPr>
          <p:nvPr/>
        </p:nvCxnSpPr>
        <p:spPr>
          <a:xfrm>
            <a:off x="6930392" y="3344744"/>
            <a:ext cx="4876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3. Key tradeoffs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351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2200" dirty="0">
                <a:solidFill>
                  <a:srgbClr val="000000"/>
                </a:solidFill>
              </a:rPr>
              <a:t>•  Submission queue + async processing: real-time processing deferred as too hard for a demo.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2200" dirty="0">
                <a:solidFill>
                  <a:srgbClr val="000000"/>
                </a:solidFill>
              </a:rPr>
              <a:t>•  Agent does all coding: code polish, test coverage, and production readiness explicitly excluded from judging.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2200" dirty="0">
                <a:solidFill>
                  <a:srgbClr val="000000"/>
                </a:solidFill>
              </a:rPr>
              <a:t>•  Free-only stack: no commercial trials (quality ceiling lowered to avoid expiry before the on-site).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2200" dirty="0">
                <a:solidFill>
                  <a:srgbClr val="000000"/>
                </a:solidFill>
              </a:rPr>
              <a:t>•  No website scraping: RSS feeds and submitted URLs only.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2200" dirty="0">
                <a:solidFill>
                  <a:srgbClr val="000000"/>
                </a:solidFill>
              </a:rPr>
              <a:t>•  NPR replaced by LibriVox + orchestral overlays: no ADA carve-out found, so public-domain sources required for </a:t>
            </a:r>
            <a:r>
              <a:rPr lang="en-US" sz="2200" dirty="0">
                <a:solidFill>
                  <a:srgbClr val="000000"/>
                </a:solidFill>
              </a:rPr>
              <a:t>remixing and </a:t>
            </a:r>
            <a:r>
              <a:rPr sz="2200" dirty="0">
                <a:solidFill>
                  <a:srgbClr val="000000"/>
                </a:solidFill>
              </a:rPr>
              <a:t>public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</a:defRPr>
            </a:pPr>
            <a:r>
              <a:t>4. Out of scope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</a:defRPr>
            </a:pPr>
            <a:r>
              <a:t>Cut from scope: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0000"/>
                </a:solidFill>
              </a:defRPr>
            </a:pPr>
            <a:r>
              <a:rPr dirty="0"/>
              <a:t>•  Real-time processing; website scraping; NPR audio</a:t>
            </a:r>
            <a:br>
              <a:rPr dirty="0"/>
            </a:br>
            <a:r>
              <a:rPr dirty="0"/>
              <a:t>•  Pitch-shift feature cut at time limit: implementation buzzes instead of pitch-shifting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749039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</a:defRPr>
            </a:pPr>
            <a:r>
              <a:t>Next steps: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112471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0000"/>
                </a:solidFill>
              </a:defRPr>
            </a:pPr>
            <a:r>
              <a:rPr dirty="0"/>
              <a:t>•  Rephrase pitch-shift prompt (pitch-shift-and-mix, not add-a-harmonic) and verify</a:t>
            </a:r>
            <a:br>
              <a:rPr dirty="0"/>
            </a:br>
            <a:r>
              <a:rPr dirty="0"/>
              <a:t>•  Optional: live-RSS path, speedup, hardening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402</Words>
  <Application>Microsoft Office PowerPoint</Application>
  <PresentationFormat>Widescreen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Alex Popiel</cp:lastModifiedBy>
  <cp:revision>4</cp:revision>
  <dcterms:created xsi:type="dcterms:W3CDTF">2013-01-27T09:14:16Z</dcterms:created>
  <dcterms:modified xsi:type="dcterms:W3CDTF">2026-10-14T16:50:19Z</dcterms:modified>
  <cp:category/>
</cp:coreProperties>
</file>